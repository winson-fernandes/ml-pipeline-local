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bd1eff2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bd1eff2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c1777182b48a3f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3c1777182b48a3f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3c1777182b48a3f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3c1777182b48a3f_3_8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3c1777182b48a3f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h3c1777182b48a3f_3_1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3c1777182b48a3f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h3c1777182b48a3f_3_11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3c1777182b48a3f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h3c1777182b48a3f_3_12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3c1777182b48a3f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h3c1777182b48a3f_3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3c1777182b48a3f_3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3c1777182b48a3f_3_16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c1777182b48a3f_3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3c1777182b48a3f_3_16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3c1777182b48a3f_3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h3c1777182b48a3f_3_18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h3c1777182b48a3f_3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h3c1777182b48a3f_3_19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3c1777182b48a3f_3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3c1777182b48a3f_3_20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3c1777182b48a3f_3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h3c1777182b48a3f_3_21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3c1777182b48a3f_3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h3c1777182b48a3f_3_23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3c1777182b48a3f_3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h3c1777182b48a3f_3_24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h3c1777182b48a3f_3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h3c1777182b48a3f_3_25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3c1777182b48a3f_3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h3c1777182b48a3f_3_26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3c1777182b48a3f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3c1777182b48a3f_3_27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3c1777182b48a3f_3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h3c1777182b48a3f_3_29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3c1777182b48a3f_3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h3c1777182b48a3f_3_3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3c1777182b48a3f_3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h3c1777182b48a3f_3_3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h3c1777182b48a3f_3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h3c1777182b48a3f_3_35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h3c1777182b48a3f_3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h3c1777182b48a3f_3_36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3c1777182b48a3f_3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h3c1777182b48a3f_3_3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3c1777182b48a3f_3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h3c1777182b48a3f_3_38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3c1777182b48a3f_3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h3c1777182b48a3f_3_39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h3c1777182b48a3f_3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h3c1777182b48a3f_3_4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_top.png" id="130" name="Google Shape;1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2100" y="330375"/>
            <a:ext cx="5502700" cy="1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 txBox="1"/>
          <p:nvPr/>
        </p:nvSpPr>
        <p:spPr>
          <a:xfrm>
            <a:off x="700000" y="1928275"/>
            <a:ext cx="770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/>
          </a:p>
        </p:txBody>
      </p:sp>
      <p:sp>
        <p:nvSpPr>
          <p:cNvPr id="132" name="Google Shape;132;p26"/>
          <p:cNvSpPr txBox="1"/>
          <p:nvPr/>
        </p:nvSpPr>
        <p:spPr>
          <a:xfrm>
            <a:off x="241150" y="2483625"/>
            <a:ext cx="848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End To End </a:t>
            </a:r>
            <a:r>
              <a:rPr b="1" lang="en" sz="1600"/>
              <a:t>pipeline on Local Machine</a:t>
            </a:r>
            <a:endParaRPr/>
          </a:p>
        </p:txBody>
      </p:sp>
      <p:sp>
        <p:nvSpPr>
          <p:cNvPr id="133" name="Google Shape;133;p26"/>
          <p:cNvSpPr txBox="1"/>
          <p:nvPr/>
        </p:nvSpPr>
        <p:spPr>
          <a:xfrm>
            <a:off x="4098850" y="3100025"/>
            <a:ext cx="482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Winson Benedict Fernandes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Manipal School of Information Science (MSIS)</a:t>
            </a:r>
            <a:endParaRPr/>
          </a:p>
        </p:txBody>
      </p:sp>
      <p:pic>
        <p:nvPicPr>
          <p:cNvPr descr="logo_bottom.png" id="134" name="Google Shape;1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8600" y="3880325"/>
            <a:ext cx="60579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0" y="4661375"/>
            <a:ext cx="230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22nd</a:t>
            </a:r>
            <a:r>
              <a:rPr b="1" i="0" lang="en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September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/>
          <p:nvPr/>
        </p:nvSpPr>
        <p:spPr>
          <a:xfrm>
            <a:off x="13" y="30275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159575" y="1079625"/>
            <a:ext cx="8940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ML end to end p</a:t>
            </a: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ipeline - Local </a:t>
            </a:r>
            <a:r>
              <a:rPr b="1" lang="en" sz="2400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Machine</a:t>
            </a:r>
            <a:endParaRPr sz="1100"/>
          </a:p>
        </p:txBody>
      </p:sp>
      <p:sp>
        <p:nvSpPr>
          <p:cNvPr id="142" name="Google Shape;142;p27"/>
          <p:cNvSpPr txBox="1"/>
          <p:nvPr/>
        </p:nvSpPr>
        <p:spPr>
          <a:xfrm>
            <a:off x="359048" y="2095225"/>
            <a:ext cx="72012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a complete machine learning pipeline on your own laptop: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download,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clean,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train,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evaluate,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deploy, and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 a live prediction.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321223" y="4375925"/>
            <a:ext cx="818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Use Case: </a:t>
            </a: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Heart disease pipeline lab.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8"/>
          <p:cNvSpPr txBox="1"/>
          <p:nvPr/>
        </p:nvSpPr>
        <p:spPr>
          <a:xfrm>
            <a:off x="480073" y="342900"/>
            <a:ext cx="818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Overview</a:t>
            </a:r>
            <a:endParaRPr sz="2400"/>
          </a:p>
        </p:txBody>
      </p:sp>
      <p:sp>
        <p:nvSpPr>
          <p:cNvPr id="150" name="Google Shape;150;p28"/>
          <p:cNvSpPr txBox="1"/>
          <p:nvPr/>
        </p:nvSpPr>
        <p:spPr>
          <a:xfrm>
            <a:off x="480073" y="1131570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Download</a:t>
            </a:r>
            <a:endParaRPr/>
          </a:p>
        </p:txBody>
      </p:sp>
      <p:sp>
        <p:nvSpPr>
          <p:cNvPr id="151" name="Google Shape;151;p28"/>
          <p:cNvSpPr txBox="1"/>
          <p:nvPr/>
        </p:nvSpPr>
        <p:spPr>
          <a:xfrm>
            <a:off x="2023164" y="1131570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Fetch the UCI Heart Disease dataset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480073" y="1488186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Preprocess</a:t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2023164" y="1488186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Clean data, engineer 6 features, split 70 / 15 / 15</a:t>
            </a:r>
            <a:endParaRPr/>
          </a:p>
        </p:txBody>
      </p:sp>
      <p:sp>
        <p:nvSpPr>
          <p:cNvPr id="154" name="Google Shape;154;p28"/>
          <p:cNvSpPr txBox="1"/>
          <p:nvPr/>
        </p:nvSpPr>
        <p:spPr>
          <a:xfrm>
            <a:off x="480073" y="1844802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Train</a:t>
            </a:r>
            <a:endParaRPr/>
          </a:p>
        </p:txBody>
      </p:sp>
      <p:sp>
        <p:nvSpPr>
          <p:cNvPr id="155" name="Google Shape;155;p28"/>
          <p:cNvSpPr txBox="1"/>
          <p:nvPr/>
        </p:nvSpPr>
        <p:spPr>
          <a:xfrm>
            <a:off x="2023164" y="1844802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Fit a small neural network</a:t>
            </a:r>
            <a:endParaRPr/>
          </a:p>
        </p:txBody>
      </p:sp>
      <p:sp>
        <p:nvSpPr>
          <p:cNvPr id="156" name="Google Shape;156;p28"/>
          <p:cNvSpPr txBox="1"/>
          <p:nvPr/>
        </p:nvSpPr>
        <p:spPr>
          <a:xfrm>
            <a:off x="480073" y="2201418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Evaluate</a:t>
            </a:r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2023164" y="2201418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Score accuracy, precision, recall, F1, AUC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480073" y="2558034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Deploy</a:t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2023164" y="2558034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Promote the model into the local registry</a:t>
            </a: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480073" y="2914650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Serve</a:t>
            </a:r>
            <a:endParaRPr/>
          </a:p>
        </p:txBody>
      </p:sp>
      <p:sp>
        <p:nvSpPr>
          <p:cNvPr id="161" name="Google Shape;161;p28"/>
          <p:cNvSpPr txBox="1"/>
          <p:nvPr/>
        </p:nvSpPr>
        <p:spPr>
          <a:xfrm>
            <a:off x="2023164" y="2914650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Answer prediction requests over HTTP</a:t>
            </a:r>
            <a:endParaRPr/>
          </a:p>
        </p:txBody>
      </p:sp>
      <p:sp>
        <p:nvSpPr>
          <p:cNvPr id="162" name="Google Shape;162;p28"/>
          <p:cNvSpPr txBox="1"/>
          <p:nvPr/>
        </p:nvSpPr>
        <p:spPr>
          <a:xfrm>
            <a:off x="480073" y="3271266"/>
            <a:ext cx="144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7. Monitor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2023164" y="3271266"/>
            <a:ext cx="664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 live predictions for feature drift</a:t>
            </a:r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480073" y="3730752"/>
            <a:ext cx="81840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stage reads the newest file on disk and writes the next one, so any single stage can rerun alone.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Runs entirely on your own machine. 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 cloud account needed.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480073" y="4800600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480073" y="342900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Before you start</a:t>
            </a:r>
            <a:endParaRPr/>
          </a:p>
        </p:txBody>
      </p:sp>
      <p:sp>
        <p:nvSpPr>
          <p:cNvPr id="172" name="Google Shape;172;p29"/>
          <p:cNvSpPr txBox="1"/>
          <p:nvPr/>
        </p:nvSpPr>
        <p:spPr>
          <a:xfrm>
            <a:off x="480073" y="603504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2400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What your laptop needs</a:t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480073" y="1165860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 3.10, 3.11, or 3.12. A GPU is not required.</a:t>
            </a:r>
            <a:endParaRPr/>
          </a:p>
        </p:txBody>
      </p:sp>
      <p:sp>
        <p:nvSpPr>
          <p:cNvPr id="174" name="Google Shape;174;p29"/>
          <p:cNvSpPr txBox="1"/>
          <p:nvPr/>
        </p:nvSpPr>
        <p:spPr>
          <a:xfrm>
            <a:off x="480073" y="1453896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Git, to download the project's code from GitHub.</a:t>
            </a:r>
            <a:endParaRPr/>
          </a:p>
        </p:txBody>
      </p:sp>
      <p:sp>
        <p:nvSpPr>
          <p:cNvPr id="175" name="Google Shape;175;p29"/>
          <p:cNvSpPr txBox="1"/>
          <p:nvPr/>
        </p:nvSpPr>
        <p:spPr>
          <a:xfrm>
            <a:off x="480073" y="1741932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terminal: PowerShell on Windows, Terminal on macOS and Linux.</a:t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480073" y="2029968"/>
            <a:ext cx="81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u="none" cap="none" strike="noStrik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internet connection, for packages and the dataset download.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1 of 10</a:t>
            </a:r>
            <a:endParaRPr sz="1100"/>
          </a:p>
        </p:txBody>
      </p:sp>
      <p:sp>
        <p:nvSpPr>
          <p:cNvPr id="183" name="Google Shape;183;p30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Open a terminal</a:t>
            </a:r>
            <a:endParaRPr sz="1100"/>
          </a:p>
        </p:txBody>
      </p:sp>
      <p:sp>
        <p:nvSpPr>
          <p:cNvPr id="184" name="Google Shape;184;p30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macOS: Spotlight (Command + Space), type Terminal, press Enter.</a:t>
            </a:r>
            <a:endParaRPr sz="1100"/>
          </a:p>
        </p:txBody>
      </p:sp>
      <p:sp>
        <p:nvSpPr>
          <p:cNvPr id="185" name="Google Shape;185;p30"/>
          <p:cNvSpPr txBox="1"/>
          <p:nvPr/>
        </p:nvSpPr>
        <p:spPr>
          <a:xfrm>
            <a:off x="480073" y="145389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Linux: Control + Alt + T, or find Terminal in the applications menu.</a:t>
            </a:r>
            <a:endParaRPr sz="1100"/>
          </a:p>
        </p:txBody>
      </p:sp>
      <p:sp>
        <p:nvSpPr>
          <p:cNvPr id="186" name="Google Shape;186;p30"/>
          <p:cNvSpPr txBox="1"/>
          <p:nvPr/>
        </p:nvSpPr>
        <p:spPr>
          <a:xfrm>
            <a:off x="480073" y="174193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Windows: press Start, type PowerShell, open Windows PowerShell.</a:t>
            </a:r>
            <a:endParaRPr sz="1100"/>
          </a:p>
        </p:txBody>
      </p:sp>
      <p:sp>
        <p:nvSpPr>
          <p:cNvPr id="187" name="Google Shape;187;p30"/>
          <p:cNvSpPr txBox="1"/>
          <p:nvPr/>
        </p:nvSpPr>
        <p:spPr>
          <a:xfrm>
            <a:off x="480073" y="2167128"/>
            <a:ext cx="818386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Checkpoint: a terminal window is open and you can type into it.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2 of 10</a:t>
            </a:r>
            <a:endParaRPr sz="1100"/>
          </a:p>
        </p:txBody>
      </p:sp>
      <p:sp>
        <p:nvSpPr>
          <p:cNvPr id="194" name="Google Shape;194;p31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Check for Python</a:t>
            </a:r>
            <a:endParaRPr sz="1100"/>
          </a:p>
        </p:txBody>
      </p:sp>
      <p:sp>
        <p:nvSpPr>
          <p:cNvPr id="195" name="Google Shape;195;p31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Needs Python 3.10, 3.11, or 3.12. Check what you have.</a:t>
            </a:r>
            <a:endParaRPr sz="1100"/>
          </a:p>
        </p:txBody>
      </p:sp>
      <p:sp>
        <p:nvSpPr>
          <p:cNvPr id="196" name="Google Shape;196;p31"/>
          <p:cNvSpPr txBox="1"/>
          <p:nvPr/>
        </p:nvSpPr>
        <p:spPr>
          <a:xfrm>
            <a:off x="480073" y="1488186"/>
            <a:ext cx="3971916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macOS / Linux</a:t>
            </a:r>
            <a:endParaRPr sz="1100"/>
          </a:p>
        </p:txBody>
      </p:sp>
      <p:sp>
        <p:nvSpPr>
          <p:cNvPr id="197" name="Google Shape;197;p31"/>
          <p:cNvSpPr txBox="1"/>
          <p:nvPr/>
        </p:nvSpPr>
        <p:spPr>
          <a:xfrm>
            <a:off x="603520" y="1680210"/>
            <a:ext cx="3848469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python3 --version</a:t>
            </a:r>
            <a:endParaRPr sz="1100"/>
          </a:p>
        </p:txBody>
      </p:sp>
      <p:sp>
        <p:nvSpPr>
          <p:cNvPr id="198" name="Google Shape;198;p31"/>
          <p:cNvSpPr txBox="1"/>
          <p:nvPr/>
        </p:nvSpPr>
        <p:spPr>
          <a:xfrm>
            <a:off x="4692025" y="1488186"/>
            <a:ext cx="3971916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Windows</a:t>
            </a:r>
            <a:endParaRPr sz="1100"/>
          </a:p>
        </p:txBody>
      </p:sp>
      <p:sp>
        <p:nvSpPr>
          <p:cNvPr id="199" name="Google Shape;199;p31"/>
          <p:cNvSpPr txBox="1"/>
          <p:nvPr/>
        </p:nvSpPr>
        <p:spPr>
          <a:xfrm>
            <a:off x="4815473" y="1680210"/>
            <a:ext cx="3848469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 --version</a:t>
            </a:r>
            <a:endParaRPr sz="1100"/>
          </a:p>
        </p:txBody>
      </p:sp>
      <p:sp>
        <p:nvSpPr>
          <p:cNvPr id="200" name="Google Shape;200;p31"/>
          <p:cNvSpPr txBox="1"/>
          <p:nvPr/>
        </p:nvSpPr>
        <p:spPr>
          <a:xfrm>
            <a:off x="480073" y="2146554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3.10 to 3.12? Install it with the matching command below.</a:t>
            </a:r>
            <a:endParaRPr sz="1100"/>
          </a:p>
        </p:txBody>
      </p:sp>
      <p:sp>
        <p:nvSpPr>
          <p:cNvPr id="201" name="Google Shape;201;p31"/>
          <p:cNvSpPr txBox="1"/>
          <p:nvPr/>
        </p:nvSpPr>
        <p:spPr>
          <a:xfrm>
            <a:off x="480073" y="2468880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macOS</a:t>
            </a:r>
            <a:endParaRPr sz="1100"/>
          </a:p>
        </p:txBody>
      </p:sp>
      <p:sp>
        <p:nvSpPr>
          <p:cNvPr id="202" name="Google Shape;202;p31"/>
          <p:cNvSpPr txBox="1"/>
          <p:nvPr/>
        </p:nvSpPr>
        <p:spPr>
          <a:xfrm>
            <a:off x="603520" y="2660904"/>
            <a:ext cx="806042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brew install python@3.12</a:t>
            </a:r>
            <a:endParaRPr sz="1100"/>
          </a:p>
        </p:txBody>
      </p:sp>
      <p:sp>
        <p:nvSpPr>
          <p:cNvPr id="203" name="Google Shape;203;p31"/>
          <p:cNvSpPr txBox="1"/>
          <p:nvPr/>
        </p:nvSpPr>
        <p:spPr>
          <a:xfrm>
            <a:off x="480073" y="3079242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endParaRPr sz="1100"/>
          </a:p>
        </p:txBody>
      </p:sp>
      <p:sp>
        <p:nvSpPr>
          <p:cNvPr id="204" name="Google Shape;204;p31"/>
          <p:cNvSpPr txBox="1"/>
          <p:nvPr/>
        </p:nvSpPr>
        <p:spPr>
          <a:xfrm>
            <a:off x="603520" y="3271266"/>
            <a:ext cx="806042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sudo apt install python3.12 python3.12-venv python3-pip</a:t>
            </a:r>
            <a:endParaRPr sz="1100"/>
          </a:p>
        </p:txBody>
      </p:sp>
      <p:sp>
        <p:nvSpPr>
          <p:cNvPr id="205" name="Google Shape;205;p31"/>
          <p:cNvSpPr txBox="1"/>
          <p:nvPr/>
        </p:nvSpPr>
        <p:spPr>
          <a:xfrm>
            <a:off x="480073" y="368960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Windows</a:t>
            </a:r>
            <a:endParaRPr sz="1100"/>
          </a:p>
        </p:txBody>
      </p:sp>
      <p:sp>
        <p:nvSpPr>
          <p:cNvPr id="206" name="Google Shape;206;p31"/>
          <p:cNvSpPr txBox="1"/>
          <p:nvPr/>
        </p:nvSpPr>
        <p:spPr>
          <a:xfrm>
            <a:off x="603520" y="3881628"/>
            <a:ext cx="806042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winget install --id Python.Python.3.12</a:t>
            </a:r>
            <a:endParaRPr sz="1100"/>
          </a:p>
        </p:txBody>
      </p:sp>
      <p:sp>
        <p:nvSpPr>
          <p:cNvPr id="207" name="Google Shape;207;p31"/>
          <p:cNvSpPr txBox="1"/>
          <p:nvPr/>
        </p:nvSpPr>
        <p:spPr>
          <a:xfrm>
            <a:off x="480073" y="4402836"/>
            <a:ext cx="8183869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Ubuntu note: the venv package above avoids an "ensurepip is not available" error later.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3 of 10</a:t>
            </a:r>
            <a:endParaRPr sz="1100"/>
          </a:p>
        </p:txBody>
      </p:sp>
      <p:sp>
        <p:nvSpPr>
          <p:cNvPr id="214" name="Google Shape;214;p32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Install Git</a:t>
            </a:r>
            <a:endParaRPr sz="1100"/>
          </a:p>
        </p:txBody>
      </p:sp>
      <p:sp>
        <p:nvSpPr>
          <p:cNvPr id="215" name="Google Shape;215;p32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Downloads the project's code onto your laptop.</a:t>
            </a:r>
            <a:endParaRPr sz="1100"/>
          </a:p>
        </p:txBody>
      </p:sp>
      <p:sp>
        <p:nvSpPr>
          <p:cNvPr id="216" name="Google Shape;216;p32"/>
          <p:cNvSpPr txBox="1"/>
          <p:nvPr/>
        </p:nvSpPr>
        <p:spPr>
          <a:xfrm>
            <a:off x="603520" y="1488186"/>
            <a:ext cx="2962735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--version</a:t>
            </a:r>
            <a:endParaRPr sz="1100"/>
          </a:p>
        </p:txBody>
      </p:sp>
      <p:sp>
        <p:nvSpPr>
          <p:cNvPr id="217" name="Google Shape;217;p32"/>
          <p:cNvSpPr txBox="1"/>
          <p:nvPr/>
        </p:nvSpPr>
        <p:spPr>
          <a:xfrm>
            <a:off x="480073" y="195453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version printed? Install Git with the command below.</a:t>
            </a:r>
            <a:endParaRPr sz="1100"/>
          </a:p>
        </p:txBody>
      </p:sp>
      <p:sp>
        <p:nvSpPr>
          <p:cNvPr id="218" name="Google Shape;218;p32"/>
          <p:cNvSpPr txBox="1"/>
          <p:nvPr/>
        </p:nvSpPr>
        <p:spPr>
          <a:xfrm>
            <a:off x="480073" y="2276856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macOS</a:t>
            </a:r>
            <a:endParaRPr sz="1100"/>
          </a:p>
        </p:txBody>
      </p:sp>
      <p:sp>
        <p:nvSpPr>
          <p:cNvPr id="219" name="Google Shape;219;p32"/>
          <p:cNvSpPr txBox="1"/>
          <p:nvPr/>
        </p:nvSpPr>
        <p:spPr>
          <a:xfrm>
            <a:off x="603520" y="2468880"/>
            <a:ext cx="806042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brew install git</a:t>
            </a:r>
            <a:endParaRPr sz="1100"/>
          </a:p>
        </p:txBody>
      </p:sp>
      <p:sp>
        <p:nvSpPr>
          <p:cNvPr id="220" name="Google Shape;220;p32"/>
          <p:cNvSpPr txBox="1"/>
          <p:nvPr/>
        </p:nvSpPr>
        <p:spPr>
          <a:xfrm>
            <a:off x="480073" y="2887218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endParaRPr sz="1100"/>
          </a:p>
        </p:txBody>
      </p:sp>
      <p:sp>
        <p:nvSpPr>
          <p:cNvPr id="221" name="Google Shape;221;p32"/>
          <p:cNvSpPr txBox="1"/>
          <p:nvPr/>
        </p:nvSpPr>
        <p:spPr>
          <a:xfrm>
            <a:off x="603520" y="3079242"/>
            <a:ext cx="806042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sudo apt install git -y</a:t>
            </a:r>
            <a:endParaRPr sz="1100"/>
          </a:p>
        </p:txBody>
      </p:sp>
      <p:sp>
        <p:nvSpPr>
          <p:cNvPr id="222" name="Google Shape;222;p32"/>
          <p:cNvSpPr txBox="1"/>
          <p:nvPr/>
        </p:nvSpPr>
        <p:spPr>
          <a:xfrm>
            <a:off x="480073" y="3497580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Windows</a:t>
            </a:r>
            <a:endParaRPr sz="1100"/>
          </a:p>
        </p:txBody>
      </p:sp>
      <p:sp>
        <p:nvSpPr>
          <p:cNvPr id="223" name="Google Shape;223;p32"/>
          <p:cNvSpPr txBox="1"/>
          <p:nvPr/>
        </p:nvSpPr>
        <p:spPr>
          <a:xfrm>
            <a:off x="603520" y="3689604"/>
            <a:ext cx="806042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winget install --id Git.Git -e --source winget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4 of 10</a:t>
            </a:r>
            <a:endParaRPr sz="1100"/>
          </a:p>
        </p:txBody>
      </p:sp>
      <p:sp>
        <p:nvSpPr>
          <p:cNvPr id="230" name="Google Shape;230;p33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Get the code</a:t>
            </a:r>
            <a:endParaRPr sz="1100"/>
          </a:p>
        </p:txBody>
      </p:sp>
      <p:sp>
        <p:nvSpPr>
          <p:cNvPr id="231" name="Google Shape;231;p33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Clone the repository, then move into the folder it creates.</a:t>
            </a:r>
            <a:endParaRPr sz="1100"/>
          </a:p>
        </p:txBody>
      </p:sp>
      <p:sp>
        <p:nvSpPr>
          <p:cNvPr id="232" name="Google Shape;232;p33"/>
          <p:cNvSpPr txBox="1"/>
          <p:nvPr/>
        </p:nvSpPr>
        <p:spPr>
          <a:xfrm>
            <a:off x="603520" y="1522476"/>
            <a:ext cx="806042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https://github.com/winson-fernandes/ml-pipeline-local.git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cd ml-pipeline-local</a:t>
            </a:r>
            <a:endParaRPr sz="1100"/>
          </a:p>
        </p:txBody>
      </p:sp>
      <p:sp>
        <p:nvSpPr>
          <p:cNvPr id="233" name="Google Shape;233;p33"/>
          <p:cNvSpPr txBox="1"/>
          <p:nvPr/>
        </p:nvSpPr>
        <p:spPr>
          <a:xfrm>
            <a:off x="480073" y="217398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5 of 10</a:t>
            </a:r>
            <a:endParaRPr sz="1100"/>
          </a:p>
        </p:txBody>
      </p:sp>
      <p:sp>
        <p:nvSpPr>
          <p:cNvPr id="240" name="Google Shape;240;p34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Create a virtual environment</a:t>
            </a:r>
            <a:endParaRPr sz="1100"/>
          </a:p>
        </p:txBody>
      </p:sp>
      <p:sp>
        <p:nvSpPr>
          <p:cNvPr id="241" name="Google Shape;241;p34"/>
          <p:cNvSpPr txBox="1"/>
          <p:nvPr/>
        </p:nvSpPr>
        <p:spPr>
          <a:xfrm>
            <a:off x="480073" y="1131570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Keeps this project's packages separate from everything else on your laptop. Use venv, or conda if you already have it.</a:t>
            </a:r>
            <a:endParaRPr sz="1100"/>
          </a:p>
        </p:txBody>
      </p:sp>
      <p:sp>
        <p:nvSpPr>
          <p:cNvPr id="242" name="Google Shape;242;p34"/>
          <p:cNvSpPr txBox="1"/>
          <p:nvPr/>
        </p:nvSpPr>
        <p:spPr>
          <a:xfrm>
            <a:off x="480073" y="1659636"/>
            <a:ext cx="3971916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venv, macOS / Linux</a:t>
            </a:r>
            <a:endParaRPr sz="1100"/>
          </a:p>
        </p:txBody>
      </p:sp>
      <p:sp>
        <p:nvSpPr>
          <p:cNvPr id="243" name="Google Shape;243;p34"/>
          <p:cNvSpPr txBox="1"/>
          <p:nvPr/>
        </p:nvSpPr>
        <p:spPr>
          <a:xfrm>
            <a:off x="603520" y="1851660"/>
            <a:ext cx="384846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python3 -m venv venv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source venv/bin/activate</a:t>
            </a:r>
            <a:endParaRPr sz="1100"/>
          </a:p>
        </p:txBody>
      </p:sp>
      <p:sp>
        <p:nvSpPr>
          <p:cNvPr id="244" name="Google Shape;244;p34"/>
          <p:cNvSpPr txBox="1"/>
          <p:nvPr/>
        </p:nvSpPr>
        <p:spPr>
          <a:xfrm>
            <a:off x="4692025" y="1659636"/>
            <a:ext cx="3971916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venv, Windows</a:t>
            </a:r>
            <a:endParaRPr sz="1100"/>
          </a:p>
        </p:txBody>
      </p:sp>
      <p:sp>
        <p:nvSpPr>
          <p:cNvPr id="245" name="Google Shape;245;p34"/>
          <p:cNvSpPr txBox="1"/>
          <p:nvPr/>
        </p:nvSpPr>
        <p:spPr>
          <a:xfrm>
            <a:off x="4815473" y="1851660"/>
            <a:ext cx="384846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 -m venv venv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venv\Scripts\Activate.ps1</a:t>
            </a:r>
            <a:endParaRPr sz="1100"/>
          </a:p>
        </p:txBody>
      </p:sp>
      <p:sp>
        <p:nvSpPr>
          <p:cNvPr id="246" name="Google Shape;246;p34"/>
          <p:cNvSpPr txBox="1"/>
          <p:nvPr/>
        </p:nvSpPr>
        <p:spPr>
          <a:xfrm>
            <a:off x="480073" y="2482596"/>
            <a:ext cx="521221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conda, any OS</a:t>
            </a:r>
            <a:endParaRPr sz="1100"/>
          </a:p>
        </p:txBody>
      </p:sp>
      <p:sp>
        <p:nvSpPr>
          <p:cNvPr id="247" name="Google Shape;247;p34"/>
          <p:cNvSpPr txBox="1"/>
          <p:nvPr/>
        </p:nvSpPr>
        <p:spPr>
          <a:xfrm>
            <a:off x="603520" y="2674620"/>
            <a:ext cx="50887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conda create -n ml-pipeline-local python=3.12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conda activate ml-pipeline-local</a:t>
            </a:r>
            <a:endParaRPr sz="1100"/>
          </a:p>
        </p:txBody>
      </p:sp>
      <p:sp>
        <p:nvSpPr>
          <p:cNvPr id="248" name="Google Shape;248;p34"/>
          <p:cNvSpPr txBox="1"/>
          <p:nvPr/>
        </p:nvSpPr>
        <p:spPr>
          <a:xfrm>
            <a:off x="480073" y="3278124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Checkpoint: your prompt shows (venv) or (ml-pipeline-local). Reactivate the same way each time you reopen a terminal.</a:t>
            </a:r>
            <a:endParaRPr sz="1100"/>
          </a:p>
        </p:txBody>
      </p:sp>
      <p:sp>
        <p:nvSpPr>
          <p:cNvPr id="249" name="Google Shape;249;p34"/>
          <p:cNvSpPr txBox="1"/>
          <p:nvPr/>
        </p:nvSpPr>
        <p:spPr>
          <a:xfrm>
            <a:off x="480073" y="378561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Windows PowerShell blocked on the venv activate line? Run this once, then retry.</a:t>
            </a:r>
            <a:endParaRPr sz="1100"/>
          </a:p>
        </p:txBody>
      </p:sp>
      <p:sp>
        <p:nvSpPr>
          <p:cNvPr id="250" name="Google Shape;250;p34"/>
          <p:cNvSpPr txBox="1"/>
          <p:nvPr/>
        </p:nvSpPr>
        <p:spPr>
          <a:xfrm>
            <a:off x="603520" y="4073652"/>
            <a:ext cx="4951608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Set-ExecutionPolicy -Scope Process -ExecutionPolicy Bypass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5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6 of 10</a:t>
            </a:r>
            <a:endParaRPr sz="1100"/>
          </a:p>
        </p:txBody>
      </p:sp>
      <p:sp>
        <p:nvSpPr>
          <p:cNvPr id="257" name="Google Shape;257;p35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Install the dependencies</a:t>
            </a:r>
            <a:endParaRPr sz="1100"/>
          </a:p>
        </p:txBody>
      </p:sp>
      <p:sp>
        <p:nvSpPr>
          <p:cNvPr id="258" name="Google Shape;258;p35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Installs PyTorch, scikit-learn, FastAPI, and everything else the pipeline needs.</a:t>
            </a:r>
            <a:endParaRPr sz="1100"/>
          </a:p>
        </p:txBody>
      </p:sp>
      <p:sp>
        <p:nvSpPr>
          <p:cNvPr id="259" name="Google Shape;259;p35"/>
          <p:cNvSpPr txBox="1"/>
          <p:nvPr/>
        </p:nvSpPr>
        <p:spPr>
          <a:xfrm>
            <a:off x="603520" y="1522476"/>
            <a:ext cx="433437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pip install -r requirements.txt</a:t>
            </a:r>
            <a:endParaRPr sz="1100"/>
          </a:p>
        </p:txBody>
      </p:sp>
      <p:sp>
        <p:nvSpPr>
          <p:cNvPr id="260" name="Google Shape;260;p35"/>
          <p:cNvSpPr txBox="1"/>
          <p:nvPr/>
        </p:nvSpPr>
        <p:spPr>
          <a:xfrm>
            <a:off x="480073" y="198882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Checkpoint: install finishes with no red error text.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267" name="Google Shape;267;p36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Where the data comes from</a:t>
            </a:r>
            <a:endParaRPr sz="1100"/>
          </a:p>
        </p:txBody>
      </p:sp>
      <p:sp>
        <p:nvSpPr>
          <p:cNvPr id="268" name="Google Shape;268;p36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Source: UCI Machine Learning Repository, Heart Disease dataset</a:t>
            </a:r>
            <a:endParaRPr sz="1100"/>
          </a:p>
        </p:txBody>
      </p:sp>
      <p:sp>
        <p:nvSpPr>
          <p:cNvPr id="269" name="Google Shape;269;p36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src/data/data_download.py</a:t>
            </a:r>
            <a:endParaRPr sz="1100"/>
          </a:p>
        </p:txBody>
      </p:sp>
      <p:sp>
        <p:nvSpPr>
          <p:cNvPr id="270" name="Google Shape;270;p36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Function: download_dataset()</a:t>
            </a:r>
            <a:endParaRPr sz="1100"/>
          </a:p>
        </p:txBody>
      </p:sp>
      <p:sp>
        <p:nvSpPr>
          <p:cNvPr id="271" name="Google Shape;271;p36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Output: data/raw/, as a timestamped CSV</a:t>
            </a:r>
            <a:endParaRPr sz="1100"/>
          </a:p>
        </p:txBody>
      </p:sp>
      <p:sp>
        <p:nvSpPr>
          <p:cNvPr id="272" name="Google Shape;272;p36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src/data/data_download.py</a:t>
            </a:r>
            <a:endParaRPr sz="1100"/>
          </a:p>
        </p:txBody>
      </p:sp>
      <p:sp>
        <p:nvSpPr>
          <p:cNvPr id="273" name="Google Shape;273;p36"/>
          <p:cNvSpPr txBox="1"/>
          <p:nvPr/>
        </p:nvSpPr>
        <p:spPr>
          <a:xfrm>
            <a:off x="603520" y="2578608"/>
            <a:ext cx="8060422" cy="80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download_dataset():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data = urlopen(DATASET_URL).read().decode("utf-8")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 = pd.read_csv(StringIO(data), names=RAW_COLUMNS, na_values="?")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df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280" name="Google Shape;280;p37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Cleaning the data</a:t>
            </a:r>
            <a:endParaRPr sz="1100"/>
          </a:p>
        </p:txBody>
      </p:sp>
      <p:sp>
        <p:nvSpPr>
          <p:cNvPr id="281" name="Google Shape;281;p37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src/data/data_preprocess.py</a:t>
            </a:r>
            <a:endParaRPr sz="1100"/>
          </a:p>
        </p:txBody>
      </p:sp>
      <p:sp>
        <p:nvSpPr>
          <p:cNvPr id="282" name="Google Shape;282;p37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Function: handle_missing_values()</a:t>
            </a:r>
            <a:endParaRPr sz="1100"/>
          </a:p>
        </p:txBody>
      </p:sp>
      <p:sp>
        <p:nvSpPr>
          <p:cNvPr id="283" name="Google Shape;283;p37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Numeric gaps filled with the column median</a:t>
            </a:r>
            <a:endParaRPr sz="1100"/>
          </a:p>
        </p:txBody>
      </p:sp>
      <p:sp>
        <p:nvSpPr>
          <p:cNvPr id="284" name="Google Shape;284;p37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Categorical gaps filled with the column mode</a:t>
            </a:r>
            <a:endParaRPr sz="1100"/>
          </a:p>
        </p:txBody>
      </p:sp>
      <p:sp>
        <p:nvSpPr>
          <p:cNvPr id="285" name="Google Shape;285;p37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src/data/data_preprocess.py</a:t>
            </a:r>
            <a:endParaRPr sz="1100"/>
          </a:p>
        </p:txBody>
      </p:sp>
      <p:sp>
        <p:nvSpPr>
          <p:cNvPr id="286" name="Google Shape;286;p37"/>
          <p:cNvSpPr txBox="1"/>
          <p:nvPr/>
        </p:nvSpPr>
        <p:spPr>
          <a:xfrm>
            <a:off x="603520" y="2578608"/>
            <a:ext cx="8060422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handle_missing_values(df):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for col in NUMERICAL_FEATURES: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df[col] = df[col].fillna(df[col].median())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for col in CATEGORICAL_FEATURES: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df[col] = df[col].fillna(df[col].mode()[0])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df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293" name="Google Shape;293;p38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Engineering features</a:t>
            </a:r>
            <a:endParaRPr sz="1100"/>
          </a:p>
        </p:txBody>
      </p:sp>
      <p:sp>
        <p:nvSpPr>
          <p:cNvPr id="294" name="Google Shape;294;p38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src/common/features.py</a:t>
            </a:r>
            <a:endParaRPr sz="1100"/>
          </a:p>
        </p:txBody>
      </p:sp>
      <p:sp>
        <p:nvSpPr>
          <p:cNvPr id="295" name="Google Shape;295;p38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Function: engineer_features_df()</a:t>
            </a:r>
            <a:endParaRPr sz="1100"/>
          </a:p>
        </p:txBody>
      </p:sp>
      <p:sp>
        <p:nvSpPr>
          <p:cNvPr id="296" name="Google Shape;296;p38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Adds 6 columns to the 13 raw ones, 19 features total</a:t>
            </a:r>
            <a:endParaRPr sz="1100"/>
          </a:p>
        </p:txBody>
      </p:sp>
      <p:sp>
        <p:nvSpPr>
          <p:cNvPr id="297" name="Google Shape;297;p38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columns: two interactions, two ratios, three flags</a:t>
            </a:r>
            <a:endParaRPr sz="1100"/>
          </a:p>
        </p:txBody>
      </p:sp>
      <p:sp>
        <p:nvSpPr>
          <p:cNvPr id="298" name="Google Shape;298;p38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src/common/features.py</a:t>
            </a:r>
            <a:endParaRPr sz="1100"/>
          </a:p>
        </p:txBody>
      </p:sp>
      <p:sp>
        <p:nvSpPr>
          <p:cNvPr id="299" name="Google Shape;299;p38"/>
          <p:cNvSpPr txBox="1"/>
          <p:nvPr/>
        </p:nvSpPr>
        <p:spPr>
          <a:xfrm>
            <a:off x="603520" y="2578608"/>
            <a:ext cx="8060422" cy="154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engineer_features_df(df):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df["age_bp_interaction"] = df["age"] * df["trestbps"] / 1000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df["chol_age_ratio"] = df["chol"] / df["age"]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df["heart_rate_age_ratio"] = df["thalach"] / df["age"]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df["high_chol"] = (df["chol"] &gt; 240).astype(int)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df["high_bp"] = (df["trestbps"] &gt; 140).astype(int)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df["low_heart_rate"] = (df["thalach"] &lt; 100).astype(int)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df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9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06" name="Google Shape;306;p39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Splitting and scaling</a:t>
            </a:r>
            <a:endParaRPr sz="1100"/>
          </a:p>
        </p:txBody>
      </p:sp>
      <p:sp>
        <p:nvSpPr>
          <p:cNvPr id="307" name="Google Shape;307;p39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src/data/data_preprocess.py, function split_and_normalize()</a:t>
            </a:r>
            <a:endParaRPr sz="1100"/>
          </a:p>
        </p:txBody>
      </p:sp>
      <p:sp>
        <p:nvSpPr>
          <p:cNvPr id="308" name="Google Shape;308;p39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Split: 70 percent train, 15 percent validation, 15 percent test</a:t>
            </a:r>
            <a:endParaRPr sz="1100"/>
          </a:p>
        </p:txBody>
      </p:sp>
      <p:sp>
        <p:nvSpPr>
          <p:cNvPr id="309" name="Google Shape;309;p39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Scaler: StandardScaler, fit on training data only</a:t>
            </a:r>
            <a:endParaRPr sz="1100"/>
          </a:p>
        </p:txBody>
      </p:sp>
      <p:sp>
        <p:nvSpPr>
          <p:cNvPr id="310" name="Google Shape;310;p39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Saved to: data/processed/ and models/scalers/</a:t>
            </a:r>
            <a:endParaRPr sz="1100"/>
          </a:p>
        </p:txBody>
      </p:sp>
      <p:sp>
        <p:nvSpPr>
          <p:cNvPr id="311" name="Google Shape;311;p39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src/data/data_preprocess.py</a:t>
            </a:r>
            <a:endParaRPr sz="1100"/>
          </a:p>
        </p:txBody>
      </p:sp>
      <p:sp>
        <p:nvSpPr>
          <p:cNvPr id="312" name="Google Shape;312;p39"/>
          <p:cNvSpPr txBox="1"/>
          <p:nvPr/>
        </p:nvSpPr>
        <p:spPr>
          <a:xfrm>
            <a:off x="603520" y="2578608"/>
            <a:ext cx="8060422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X_temp, X_test, y_temp, y_test = train_test_split(X, y, test_size=0.15, stratify=y)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X_train, X_val, y_train, y_val = train_test_split(X_temp, y_temp, test_size=0.176)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F4F4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scaler = StandardScaler()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X_train_scaled = scaler.fit_transform(X_train)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0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19" name="Google Shape;319;p40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Training the model</a:t>
            </a:r>
            <a:endParaRPr sz="1100"/>
          </a:p>
        </p:txBody>
      </p:sp>
      <p:sp>
        <p:nvSpPr>
          <p:cNvPr id="320" name="Google Shape;320;p40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src/model/model_train.py, function train()</a:t>
            </a:r>
            <a:endParaRPr sz="1100"/>
          </a:p>
        </p:txBody>
      </p:sp>
      <p:sp>
        <p:nvSpPr>
          <p:cNvPr id="321" name="Google Shape;321;p40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Model: HeartDiseaseNN, defined once in src/common/model_def.py</a:t>
            </a:r>
            <a:endParaRPr sz="1100"/>
          </a:p>
        </p:txBody>
      </p:sp>
      <p:sp>
        <p:nvSpPr>
          <p:cNvPr id="322" name="Google Shape;322;p40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Stops early after 15 epochs with no validation improvement</a:t>
            </a:r>
            <a:endParaRPr sz="1100"/>
          </a:p>
        </p:txBody>
      </p:sp>
      <p:sp>
        <p:nvSpPr>
          <p:cNvPr id="323" name="Google Shape;323;p40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Keeps the checkpoint with the best validation loss, not the last one</a:t>
            </a:r>
            <a:endParaRPr sz="1100"/>
          </a:p>
        </p:txBody>
      </p:sp>
      <p:sp>
        <p:nvSpPr>
          <p:cNvPr id="324" name="Google Shape;324;p40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src/model/model_train.py</a:t>
            </a:r>
            <a:endParaRPr sz="1100"/>
          </a:p>
        </p:txBody>
      </p:sp>
      <p:sp>
        <p:nvSpPr>
          <p:cNvPr id="325" name="Google Shape;325;p40"/>
          <p:cNvSpPr txBox="1"/>
          <p:nvPr/>
        </p:nvSpPr>
        <p:spPr>
          <a:xfrm>
            <a:off x="603520" y="2578608"/>
            <a:ext cx="8060422" cy="15499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model = HeartDiseaseNN(input_size=X_train.shape[1], dropout_rate=args.dropout_rate)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optimizer = optim.Adam(model.parameters(), lr=args.learning_rate)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F4F4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 epoch in range(args.epochs):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train_loss, train_acc = train_epoch(model, train_loader, criterion, optimizer, device)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val_loss, val_acc, val_auc, val_f1 = validate_epoch(model, val_loader, criterion, device)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if val_loss &lt; best_val_loss: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torch.save(checkpoint, model_path)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1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32" name="Google Shape;332;p41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Evaluating the model</a:t>
            </a:r>
            <a:endParaRPr sz="1100"/>
          </a:p>
        </p:txBody>
      </p:sp>
      <p:sp>
        <p:nvSpPr>
          <p:cNvPr id="333" name="Google Shape;333;p41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src/evaluation/model_evaluate.py, function evaluate_model()</a:t>
            </a:r>
            <a:endParaRPr sz="1100"/>
          </a:p>
        </p:txBody>
      </p:sp>
      <p:sp>
        <p:nvSpPr>
          <p:cNvPr id="334" name="Google Shape;334;p41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Scores the held out test set, never seen during training</a:t>
            </a:r>
            <a:endParaRPr sz="1100"/>
          </a:p>
        </p:txBody>
      </p:sp>
      <p:sp>
        <p:nvSpPr>
          <p:cNvPr id="335" name="Google Shape;335;p41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Metrics: accuracy, precision, recall, F1, AUC</a:t>
            </a:r>
            <a:endParaRPr sz="1100"/>
          </a:p>
        </p:txBody>
      </p:sp>
      <p:sp>
        <p:nvSpPr>
          <p:cNvPr id="336" name="Google Shape;336;p41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Saves a confusion matrix and an ROC curve to evaluation/</a:t>
            </a:r>
            <a:endParaRPr sz="1100"/>
          </a:p>
        </p:txBody>
      </p:sp>
      <p:sp>
        <p:nvSpPr>
          <p:cNvPr id="337" name="Google Shape;337;p41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src/evaluation/model_evaluate.py</a:t>
            </a:r>
            <a:endParaRPr sz="1100"/>
          </a:p>
        </p:txBody>
      </p:sp>
      <p:sp>
        <p:nvSpPr>
          <p:cNvPr id="338" name="Google Shape;338;p41"/>
          <p:cNvSpPr txBox="1"/>
          <p:nvPr/>
        </p:nvSpPr>
        <p:spPr>
          <a:xfrm>
            <a:off x="603520" y="2578608"/>
            <a:ext cx="8060422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model.load_state_dict(checkpoint["model_state_dict"])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outputs = model(X_test_tensor)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_, y_pred = torch.max(outputs, 1)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F4F4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accuracy = accuracy_score(y_test, y_pred)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auc = roc_auc_score(y_test, probs[:, 1])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2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45" name="Google Shape;345;p42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Deploying the model</a:t>
            </a:r>
            <a:endParaRPr sz="1100"/>
          </a:p>
        </p:txBody>
      </p:sp>
      <p:sp>
        <p:nvSpPr>
          <p:cNvPr id="346" name="Google Shape;346;p42"/>
          <p:cNvSpPr txBox="1"/>
          <p:nvPr/>
        </p:nvSpPr>
        <p:spPr>
          <a:xfrm>
            <a:off x="480073" y="11315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src/deployment/model_deploy.py, function deploy()</a:t>
            </a:r>
            <a:endParaRPr sz="1100"/>
          </a:p>
        </p:txBody>
      </p:sp>
      <p:sp>
        <p:nvSpPr>
          <p:cNvPr id="347" name="Google Shape;347;p42"/>
          <p:cNvSpPr txBox="1"/>
          <p:nvPr/>
        </p:nvSpPr>
        <p:spPr>
          <a:xfrm>
            <a:off x="480073" y="14196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Copies the chosen training run into models/registry/latest</a:t>
            </a:r>
            <a:endParaRPr sz="1100"/>
          </a:p>
        </p:txBody>
      </p:sp>
      <p:sp>
        <p:nvSpPr>
          <p:cNvPr id="348" name="Google Shape;348;p42"/>
          <p:cNvSpPr txBox="1"/>
          <p:nvPr/>
        </p:nvSpPr>
        <p:spPr>
          <a:xfrm>
            <a:off x="480073" y="17076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one self test prediction before finishing</a:t>
            </a:r>
            <a:endParaRPr sz="1100"/>
          </a:p>
        </p:txBody>
      </p:sp>
      <p:sp>
        <p:nvSpPr>
          <p:cNvPr id="349" name="Google Shape;349;p42"/>
          <p:cNvSpPr txBox="1"/>
          <p:nvPr/>
        </p:nvSpPr>
        <p:spPr>
          <a:xfrm>
            <a:off x="480073" y="19956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Serving always reads from this one registry folder</a:t>
            </a:r>
            <a:endParaRPr sz="1100"/>
          </a:p>
        </p:txBody>
      </p:sp>
      <p:sp>
        <p:nvSpPr>
          <p:cNvPr id="350" name="Google Shape;350;p42"/>
          <p:cNvSpPr txBox="1"/>
          <p:nvPr/>
        </p:nvSpPr>
        <p:spPr>
          <a:xfrm>
            <a:off x="480073" y="238658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src/deployment/model_deploy.py</a:t>
            </a:r>
            <a:endParaRPr sz="1100"/>
          </a:p>
        </p:txBody>
      </p:sp>
      <p:sp>
        <p:nvSpPr>
          <p:cNvPr id="351" name="Google Shape;351;p42"/>
          <p:cNvSpPr txBox="1"/>
          <p:nvPr/>
        </p:nvSpPr>
        <p:spPr>
          <a:xfrm>
            <a:off x="603520" y="2578608"/>
            <a:ext cx="8060422" cy="80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def deploy(model_dir=None, registry_dir=MODELS_REGISTRY_LATEST_DIR):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model_dir = promote_model(model_dir, registry_dir)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self_test(registry_dir)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deployment_info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3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58" name="Google Shape;358;p43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How the CI/CD pipeline runs</a:t>
            </a:r>
            <a:endParaRPr sz="1100"/>
          </a:p>
        </p:txBody>
      </p:sp>
      <p:sp>
        <p:nvSpPr>
          <p:cNvPr id="359" name="Google Shape;359;p43"/>
          <p:cNvSpPr txBox="1"/>
          <p:nvPr/>
        </p:nvSpPr>
        <p:spPr>
          <a:xfrm>
            <a:off x="480073" y="109728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File: .github/workflows/ml-pipeline.yml</a:t>
            </a:r>
            <a:endParaRPr sz="1100"/>
          </a:p>
        </p:txBody>
      </p:sp>
      <p:sp>
        <p:nvSpPr>
          <p:cNvPr id="360" name="Google Shape;360;p43"/>
          <p:cNvSpPr txBox="1"/>
          <p:nvPr/>
        </p:nvSpPr>
        <p:spPr>
          <a:xfrm>
            <a:off x="480073" y="1385316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Triggers: a push to main, a pull request into main, or a manual run from the Actions tab</a:t>
            </a:r>
            <a:endParaRPr sz="1100"/>
          </a:p>
        </p:txBody>
      </p:sp>
      <p:sp>
        <p:nvSpPr>
          <p:cNvPr id="361" name="Google Shape;361;p43"/>
          <p:cNvSpPr txBox="1"/>
          <p:nvPr/>
        </p:nvSpPr>
        <p:spPr>
          <a:xfrm>
            <a:off x="480073" y="185851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Manual runs let you choose how many epochs to train</a:t>
            </a:r>
            <a:endParaRPr sz="1100"/>
          </a:p>
        </p:txBody>
      </p:sp>
      <p:sp>
        <p:nvSpPr>
          <p:cNvPr id="362" name="Google Shape;362;p43"/>
          <p:cNvSpPr txBox="1"/>
          <p:nvPr/>
        </p:nvSpPr>
        <p:spPr>
          <a:xfrm>
            <a:off x="480073" y="2283714"/>
            <a:ext cx="233178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0. Lint and test</a:t>
            </a:r>
            <a:endParaRPr sz="1100"/>
          </a:p>
        </p:txBody>
      </p:sp>
      <p:sp>
        <p:nvSpPr>
          <p:cNvPr id="363" name="Google Shape;363;p43"/>
          <p:cNvSpPr txBox="1"/>
          <p:nvPr/>
        </p:nvSpPr>
        <p:spPr>
          <a:xfrm>
            <a:off x="2949019" y="2283714"/>
            <a:ext cx="57149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ruff and pytest. Every later job waits on this one passing.</a:t>
            </a:r>
            <a:endParaRPr sz="1100"/>
          </a:p>
        </p:txBody>
      </p:sp>
      <p:sp>
        <p:nvSpPr>
          <p:cNvPr id="364" name="Google Shape;364;p43"/>
          <p:cNvSpPr txBox="1"/>
          <p:nvPr/>
        </p:nvSpPr>
        <p:spPr>
          <a:xfrm>
            <a:off x="480073" y="2585466"/>
            <a:ext cx="233178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Download</a:t>
            </a:r>
            <a:endParaRPr sz="1100"/>
          </a:p>
        </p:txBody>
      </p:sp>
      <p:sp>
        <p:nvSpPr>
          <p:cNvPr id="365" name="Google Shape;365;p43"/>
          <p:cNvSpPr txBox="1"/>
          <p:nvPr/>
        </p:nvSpPr>
        <p:spPr>
          <a:xfrm>
            <a:off x="2949019" y="2585466"/>
            <a:ext cx="57149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Fetches the dataset, or reuses a cached copy.</a:t>
            </a:r>
            <a:endParaRPr sz="1100"/>
          </a:p>
        </p:txBody>
      </p:sp>
      <p:sp>
        <p:nvSpPr>
          <p:cNvPr id="366" name="Google Shape;366;p43"/>
          <p:cNvSpPr txBox="1"/>
          <p:nvPr/>
        </p:nvSpPr>
        <p:spPr>
          <a:xfrm>
            <a:off x="480073" y="2887218"/>
            <a:ext cx="233178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Preprocess</a:t>
            </a:r>
            <a:endParaRPr sz="1100"/>
          </a:p>
        </p:txBody>
      </p:sp>
      <p:sp>
        <p:nvSpPr>
          <p:cNvPr id="367" name="Google Shape;367;p43"/>
          <p:cNvSpPr txBox="1"/>
          <p:nvPr/>
        </p:nvSpPr>
        <p:spPr>
          <a:xfrm>
            <a:off x="2949019" y="2887218"/>
            <a:ext cx="57149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Cleans and engineers features, or reuses a cached copy.</a:t>
            </a:r>
            <a:endParaRPr sz="1100"/>
          </a:p>
        </p:txBody>
      </p:sp>
      <p:sp>
        <p:nvSpPr>
          <p:cNvPr id="368" name="Google Shape;368;p43"/>
          <p:cNvSpPr txBox="1"/>
          <p:nvPr/>
        </p:nvSpPr>
        <p:spPr>
          <a:xfrm>
            <a:off x="480073" y="3188970"/>
            <a:ext cx="233178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Train</a:t>
            </a:r>
            <a:endParaRPr sz="1100"/>
          </a:p>
        </p:txBody>
      </p:sp>
      <p:sp>
        <p:nvSpPr>
          <p:cNvPr id="369" name="Google Shape;369;p43"/>
          <p:cNvSpPr txBox="1"/>
          <p:nvPr/>
        </p:nvSpPr>
        <p:spPr>
          <a:xfrm>
            <a:off x="2949019" y="3188970"/>
            <a:ext cx="57149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runs. Trains a fresh model.</a:t>
            </a:r>
            <a:endParaRPr sz="1100"/>
          </a:p>
        </p:txBody>
      </p:sp>
      <p:sp>
        <p:nvSpPr>
          <p:cNvPr id="370" name="Google Shape;370;p43"/>
          <p:cNvSpPr txBox="1"/>
          <p:nvPr/>
        </p:nvSpPr>
        <p:spPr>
          <a:xfrm>
            <a:off x="480073" y="3490722"/>
            <a:ext cx="233178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 Evaluate</a:t>
            </a:r>
            <a:endParaRPr sz="1100"/>
          </a:p>
        </p:txBody>
      </p:sp>
      <p:sp>
        <p:nvSpPr>
          <p:cNvPr id="371" name="Google Shape;371;p43"/>
          <p:cNvSpPr txBox="1"/>
          <p:nvPr/>
        </p:nvSpPr>
        <p:spPr>
          <a:xfrm>
            <a:off x="2949019" y="3490722"/>
            <a:ext cx="57149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runs. Scores it on the held out test set.</a:t>
            </a:r>
            <a:endParaRPr sz="1100"/>
          </a:p>
        </p:txBody>
      </p:sp>
      <p:sp>
        <p:nvSpPr>
          <p:cNvPr id="372" name="Google Shape;372;p43"/>
          <p:cNvSpPr txBox="1"/>
          <p:nvPr/>
        </p:nvSpPr>
        <p:spPr>
          <a:xfrm>
            <a:off x="480073" y="3792474"/>
            <a:ext cx="2331782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Deploy and smoke test</a:t>
            </a:r>
            <a:endParaRPr sz="1100"/>
          </a:p>
        </p:txBody>
      </p:sp>
      <p:sp>
        <p:nvSpPr>
          <p:cNvPr id="373" name="Google Shape;373;p43"/>
          <p:cNvSpPr txBox="1"/>
          <p:nvPr/>
        </p:nvSpPr>
        <p:spPr>
          <a:xfrm>
            <a:off x="2949019" y="3792474"/>
            <a:ext cx="57149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Promotes the model, then sends it one real prediction.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4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80" name="Google Shape;380;p44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Try it yourself</a:t>
            </a:r>
            <a:endParaRPr sz="1100"/>
          </a:p>
        </p:txBody>
      </p:sp>
      <p:sp>
        <p:nvSpPr>
          <p:cNvPr id="381" name="Google Shape;381;p44"/>
          <p:cNvSpPr txBox="1"/>
          <p:nvPr/>
        </p:nvSpPr>
        <p:spPr>
          <a:xfrm>
            <a:off x="480073" y="109728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a hyperparameter in src/model/model_train.py.</a:t>
            </a:r>
            <a:endParaRPr sz="1100"/>
          </a:p>
        </p:txBody>
      </p:sp>
      <p:sp>
        <p:nvSpPr>
          <p:cNvPr id="382" name="Google Shape;382;p44"/>
          <p:cNvSpPr txBox="1"/>
          <p:nvPr/>
        </p:nvSpPr>
        <p:spPr>
          <a:xfrm>
            <a:off x="603520" y="1419606"/>
            <a:ext cx="508877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-m src.model.model_train --learning-rate 0.0005</a:t>
            </a:r>
            <a:endParaRPr sz="1100"/>
          </a:p>
        </p:txBody>
      </p:sp>
      <p:sp>
        <p:nvSpPr>
          <p:cNvPr id="383" name="Google Shape;383;p44"/>
          <p:cNvSpPr txBox="1"/>
          <p:nvPr/>
        </p:nvSpPr>
        <p:spPr>
          <a:xfrm>
            <a:off x="480073" y="188595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need to redo download or preprocess, stages reuse what is already on disk.</a:t>
            </a:r>
            <a:endParaRPr sz="1100"/>
          </a:p>
        </p:txBody>
      </p:sp>
      <p:sp>
        <p:nvSpPr>
          <p:cNvPr id="384" name="Google Shape;384;p44"/>
          <p:cNvSpPr txBox="1"/>
          <p:nvPr/>
        </p:nvSpPr>
        <p:spPr>
          <a:xfrm>
            <a:off x="480073" y="217398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Rerun evaluation and deployment to compare results.</a:t>
            </a:r>
            <a:endParaRPr sz="1100"/>
          </a:p>
        </p:txBody>
      </p:sp>
      <p:sp>
        <p:nvSpPr>
          <p:cNvPr id="385" name="Google Shape;385;p44"/>
          <p:cNvSpPr txBox="1"/>
          <p:nvPr/>
        </p:nvSpPr>
        <p:spPr>
          <a:xfrm>
            <a:off x="603520" y="2496312"/>
            <a:ext cx="508877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-m src.evaluation.model_evaluate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-m src.deployment.model_deploy</a:t>
            </a:r>
            <a:endParaRPr sz="1100"/>
          </a:p>
        </p:txBody>
      </p:sp>
      <p:sp>
        <p:nvSpPr>
          <p:cNvPr id="386" name="Google Shape;386;p44"/>
          <p:cNvSpPr txBox="1"/>
          <p:nvPr/>
        </p:nvSpPr>
        <p:spPr>
          <a:xfrm>
            <a:off x="480073" y="311353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a feature change, edit engineer_features_df() in src/common/features.py.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5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393" name="Google Shape;393;p45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Commit your change to trigger CI/CD</a:t>
            </a:r>
            <a:endParaRPr sz="1100"/>
          </a:p>
        </p:txBody>
      </p:sp>
      <p:sp>
        <p:nvSpPr>
          <p:cNvPr id="394" name="Google Shape;394;p45"/>
          <p:cNvSpPr txBox="1"/>
          <p:nvPr/>
        </p:nvSpPr>
        <p:spPr>
          <a:xfrm>
            <a:off x="480073" y="109728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 1: push straight to main.</a:t>
            </a:r>
            <a:endParaRPr sz="1100"/>
          </a:p>
        </p:txBody>
      </p:sp>
      <p:sp>
        <p:nvSpPr>
          <p:cNvPr id="395" name="Google Shape;395;p45"/>
          <p:cNvSpPr txBox="1"/>
          <p:nvPr/>
        </p:nvSpPr>
        <p:spPr>
          <a:xfrm>
            <a:off x="603520" y="1405890"/>
            <a:ext cx="5088772" cy="62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add src/model/model_train.py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commit -m "Lower the learning rate"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endParaRPr sz="1100"/>
          </a:p>
        </p:txBody>
      </p:sp>
      <p:sp>
        <p:nvSpPr>
          <p:cNvPr id="396" name="Google Shape;396;p45"/>
          <p:cNvSpPr txBox="1"/>
          <p:nvPr/>
        </p:nvSpPr>
        <p:spPr>
          <a:xfrm>
            <a:off x="480073" y="222199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 2: branch and open a pull request.</a:t>
            </a:r>
            <a:endParaRPr sz="1100"/>
          </a:p>
        </p:txBody>
      </p:sp>
      <p:sp>
        <p:nvSpPr>
          <p:cNvPr id="397" name="Google Shape;397;p45"/>
          <p:cNvSpPr txBox="1"/>
          <p:nvPr/>
        </p:nvSpPr>
        <p:spPr>
          <a:xfrm>
            <a:off x="603520" y="2530602"/>
            <a:ext cx="5088772" cy="80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checkout -b try-lower-lr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add src/model/model_train.py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commit -m "Lower the learning rate"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git push -u origin try-lower-lr</a:t>
            </a:r>
            <a:endParaRPr sz="1100"/>
          </a:p>
        </p:txBody>
      </p:sp>
      <p:sp>
        <p:nvSpPr>
          <p:cNvPr id="398" name="Google Shape;398;p45"/>
          <p:cNvSpPr txBox="1"/>
          <p:nvPr/>
        </p:nvSpPr>
        <p:spPr>
          <a:xfrm>
            <a:off x="480073" y="3531870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 3: no commit needed, run it manually from the Actions tab and set the epochs input.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6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6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Understand the workflow</a:t>
            </a:r>
            <a:endParaRPr sz="1100"/>
          </a:p>
        </p:txBody>
      </p:sp>
      <p:sp>
        <p:nvSpPr>
          <p:cNvPr id="405" name="Google Shape;405;p46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What reruns, and what gets reused</a:t>
            </a:r>
            <a:endParaRPr sz="1100"/>
          </a:p>
        </p:txBody>
      </p:sp>
      <p:sp>
        <p:nvSpPr>
          <p:cNvPr id="406" name="Google Shape;406;p46"/>
          <p:cNvSpPr txBox="1"/>
          <p:nvPr/>
        </p:nvSpPr>
        <p:spPr>
          <a:xfrm>
            <a:off x="480073" y="1028700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Compare editing a hyperparameter in model_train.py against editing engineer_features_df() in features.py.</a:t>
            </a:r>
            <a:endParaRPr sz="1100"/>
          </a:p>
        </p:txBody>
      </p:sp>
      <p:sp>
        <p:nvSpPr>
          <p:cNvPr id="407" name="Google Shape;407;p46"/>
          <p:cNvSpPr txBox="1"/>
          <p:nvPr/>
        </p:nvSpPr>
        <p:spPr>
          <a:xfrm>
            <a:off x="480073" y="1639062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sz="1100"/>
          </a:p>
        </p:txBody>
      </p:sp>
      <p:sp>
        <p:nvSpPr>
          <p:cNvPr id="408" name="Google Shape;408;p46"/>
          <p:cNvSpPr txBox="1"/>
          <p:nvPr/>
        </p:nvSpPr>
        <p:spPr>
          <a:xfrm>
            <a:off x="2743273" y="1639062"/>
            <a:ext cx="285746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Training code changes</a:t>
            </a:r>
            <a:endParaRPr sz="1100"/>
          </a:p>
        </p:txBody>
      </p:sp>
      <p:sp>
        <p:nvSpPr>
          <p:cNvPr id="409" name="Google Shape;409;p46"/>
          <p:cNvSpPr txBox="1"/>
          <p:nvPr/>
        </p:nvSpPr>
        <p:spPr>
          <a:xfrm>
            <a:off x="5806480" y="1639062"/>
            <a:ext cx="2857461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Feature engineering changes</a:t>
            </a:r>
            <a:endParaRPr sz="1100"/>
          </a:p>
        </p:txBody>
      </p:sp>
      <p:sp>
        <p:nvSpPr>
          <p:cNvPr id="410" name="Google Shape;410;p46"/>
          <p:cNvSpPr/>
          <p:nvPr/>
        </p:nvSpPr>
        <p:spPr>
          <a:xfrm>
            <a:off x="480073" y="1947672"/>
            <a:ext cx="8183869" cy="9525"/>
          </a:xfrm>
          <a:prstGeom prst="rect">
            <a:avLst/>
          </a:prstGeom>
          <a:solidFill>
            <a:srgbClr val="DDE2D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6"/>
          <p:cNvSpPr txBox="1"/>
          <p:nvPr/>
        </p:nvSpPr>
        <p:spPr>
          <a:xfrm>
            <a:off x="480073" y="2057400"/>
            <a:ext cx="20574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Lint and test</a:t>
            </a:r>
            <a:endParaRPr sz="1100"/>
          </a:p>
        </p:txBody>
      </p:sp>
      <p:sp>
        <p:nvSpPr>
          <p:cNvPr id="412" name="Google Shape;412;p46"/>
          <p:cNvSpPr txBox="1"/>
          <p:nvPr/>
        </p:nvSpPr>
        <p:spPr>
          <a:xfrm>
            <a:off x="2743273" y="20574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 first</a:t>
            </a:r>
            <a:endParaRPr sz="1100"/>
          </a:p>
        </p:txBody>
      </p:sp>
      <p:sp>
        <p:nvSpPr>
          <p:cNvPr id="413" name="Google Shape;413;p46"/>
          <p:cNvSpPr txBox="1"/>
          <p:nvPr/>
        </p:nvSpPr>
        <p:spPr>
          <a:xfrm>
            <a:off x="5806480" y="20574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 first</a:t>
            </a:r>
            <a:endParaRPr sz="1100"/>
          </a:p>
        </p:txBody>
      </p:sp>
      <p:sp>
        <p:nvSpPr>
          <p:cNvPr id="414" name="Google Shape;414;p46"/>
          <p:cNvSpPr txBox="1"/>
          <p:nvPr/>
        </p:nvSpPr>
        <p:spPr>
          <a:xfrm>
            <a:off x="480073" y="2400300"/>
            <a:ext cx="20574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sz="1100"/>
          </a:p>
        </p:txBody>
      </p:sp>
      <p:sp>
        <p:nvSpPr>
          <p:cNvPr id="415" name="Google Shape;415;p46"/>
          <p:cNvSpPr txBox="1"/>
          <p:nvPr/>
        </p:nvSpPr>
        <p:spPr>
          <a:xfrm>
            <a:off x="2743273" y="24003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hit, reused</a:t>
            </a:r>
            <a:endParaRPr sz="1100"/>
          </a:p>
        </p:txBody>
      </p:sp>
      <p:sp>
        <p:nvSpPr>
          <p:cNvPr id="416" name="Google Shape;416;p46"/>
          <p:cNvSpPr txBox="1"/>
          <p:nvPr/>
        </p:nvSpPr>
        <p:spPr>
          <a:xfrm>
            <a:off x="5806480" y="24003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miss, reruns</a:t>
            </a:r>
            <a:endParaRPr sz="1100"/>
          </a:p>
        </p:txBody>
      </p:sp>
      <p:sp>
        <p:nvSpPr>
          <p:cNvPr id="417" name="Google Shape;417;p46"/>
          <p:cNvSpPr txBox="1"/>
          <p:nvPr/>
        </p:nvSpPr>
        <p:spPr>
          <a:xfrm>
            <a:off x="480073" y="2743200"/>
            <a:ext cx="20574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Preprocess</a:t>
            </a:r>
            <a:endParaRPr sz="1100"/>
          </a:p>
        </p:txBody>
      </p:sp>
      <p:sp>
        <p:nvSpPr>
          <p:cNvPr id="418" name="Google Shape;418;p46"/>
          <p:cNvSpPr txBox="1"/>
          <p:nvPr/>
        </p:nvSpPr>
        <p:spPr>
          <a:xfrm>
            <a:off x="2743273" y="27432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hit, reused</a:t>
            </a:r>
            <a:endParaRPr sz="1100"/>
          </a:p>
        </p:txBody>
      </p:sp>
      <p:sp>
        <p:nvSpPr>
          <p:cNvPr id="419" name="Google Shape;419;p46"/>
          <p:cNvSpPr txBox="1"/>
          <p:nvPr/>
        </p:nvSpPr>
        <p:spPr>
          <a:xfrm>
            <a:off x="5806480" y="27432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Cache miss, reruns</a:t>
            </a:r>
            <a:endParaRPr sz="1100"/>
          </a:p>
        </p:txBody>
      </p:sp>
      <p:sp>
        <p:nvSpPr>
          <p:cNvPr id="420" name="Google Shape;420;p46"/>
          <p:cNvSpPr txBox="1"/>
          <p:nvPr/>
        </p:nvSpPr>
        <p:spPr>
          <a:xfrm>
            <a:off x="480073" y="3086100"/>
            <a:ext cx="20574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100"/>
          </a:p>
        </p:txBody>
      </p:sp>
      <p:sp>
        <p:nvSpPr>
          <p:cNvPr id="421" name="Google Shape;421;p46"/>
          <p:cNvSpPr txBox="1"/>
          <p:nvPr/>
        </p:nvSpPr>
        <p:spPr>
          <a:xfrm>
            <a:off x="2743273" y="30861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runs, new code</a:t>
            </a:r>
            <a:endParaRPr sz="1100"/>
          </a:p>
        </p:txBody>
      </p:sp>
      <p:sp>
        <p:nvSpPr>
          <p:cNvPr id="422" name="Google Shape;422;p46"/>
          <p:cNvSpPr txBox="1"/>
          <p:nvPr/>
        </p:nvSpPr>
        <p:spPr>
          <a:xfrm>
            <a:off x="5806480" y="30861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runs, new features</a:t>
            </a:r>
            <a:endParaRPr sz="1100"/>
          </a:p>
        </p:txBody>
      </p:sp>
      <p:sp>
        <p:nvSpPr>
          <p:cNvPr id="423" name="Google Shape;423;p46"/>
          <p:cNvSpPr txBox="1"/>
          <p:nvPr/>
        </p:nvSpPr>
        <p:spPr>
          <a:xfrm>
            <a:off x="480073" y="3429000"/>
            <a:ext cx="20574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sz="1100"/>
          </a:p>
        </p:txBody>
      </p:sp>
      <p:sp>
        <p:nvSpPr>
          <p:cNvPr id="424" name="Google Shape;424;p46"/>
          <p:cNvSpPr txBox="1"/>
          <p:nvPr/>
        </p:nvSpPr>
        <p:spPr>
          <a:xfrm>
            <a:off x="2743273" y="34290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</a:t>
            </a:r>
            <a:endParaRPr sz="1100"/>
          </a:p>
        </p:txBody>
      </p:sp>
      <p:sp>
        <p:nvSpPr>
          <p:cNvPr id="425" name="Google Shape;425;p46"/>
          <p:cNvSpPr txBox="1"/>
          <p:nvPr/>
        </p:nvSpPr>
        <p:spPr>
          <a:xfrm>
            <a:off x="5806480" y="34290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</a:t>
            </a:r>
            <a:endParaRPr sz="1100"/>
          </a:p>
        </p:txBody>
      </p:sp>
      <p:sp>
        <p:nvSpPr>
          <p:cNvPr id="426" name="Google Shape;426;p46"/>
          <p:cNvSpPr txBox="1"/>
          <p:nvPr/>
        </p:nvSpPr>
        <p:spPr>
          <a:xfrm>
            <a:off x="480073" y="3771900"/>
            <a:ext cx="2057455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sz="1100"/>
          </a:p>
        </p:txBody>
      </p:sp>
      <p:sp>
        <p:nvSpPr>
          <p:cNvPr id="427" name="Google Shape;427;p46"/>
          <p:cNvSpPr txBox="1"/>
          <p:nvPr/>
        </p:nvSpPr>
        <p:spPr>
          <a:xfrm>
            <a:off x="2743273" y="37719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</a:t>
            </a:r>
            <a:endParaRPr sz="1100"/>
          </a:p>
        </p:txBody>
      </p:sp>
      <p:sp>
        <p:nvSpPr>
          <p:cNvPr id="428" name="Google Shape;428;p46"/>
          <p:cNvSpPr txBox="1"/>
          <p:nvPr/>
        </p:nvSpPr>
        <p:spPr>
          <a:xfrm>
            <a:off x="5806480" y="3771900"/>
            <a:ext cx="2857461" cy="233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Always runs</a:t>
            </a:r>
            <a:endParaRPr sz="1100"/>
          </a:p>
        </p:txBody>
      </p:sp>
      <p:sp>
        <p:nvSpPr>
          <p:cNvPr id="429" name="Google Shape;429;p46"/>
          <p:cNvSpPr txBox="1"/>
          <p:nvPr/>
        </p:nvSpPr>
        <p:spPr>
          <a:xfrm>
            <a:off x="480073" y="418338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 and preprocess both hash features.py into their cache key, so it invalidates both.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47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7 of 10</a:t>
            </a:r>
            <a:endParaRPr sz="1100"/>
          </a:p>
        </p:txBody>
      </p:sp>
      <p:sp>
        <p:nvSpPr>
          <p:cNvPr id="436" name="Google Shape;436;p47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Run the whole pipeline</a:t>
            </a:r>
            <a:endParaRPr sz="1100"/>
          </a:p>
        </p:txBody>
      </p:sp>
      <p:sp>
        <p:nvSpPr>
          <p:cNvPr id="437" name="Google Shape;437;p47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command runs every stage in order, download through deploy.</a:t>
            </a:r>
            <a:endParaRPr sz="1100"/>
          </a:p>
        </p:txBody>
      </p:sp>
      <p:sp>
        <p:nvSpPr>
          <p:cNvPr id="438" name="Google Shape;438;p47"/>
          <p:cNvSpPr txBox="1"/>
          <p:nvPr/>
        </p:nvSpPr>
        <p:spPr>
          <a:xfrm>
            <a:off x="603520" y="1522476"/>
            <a:ext cx="3648553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-m src.pipeline</a:t>
            </a:r>
            <a:endParaRPr sz="1100"/>
          </a:p>
        </p:txBody>
      </p:sp>
      <p:sp>
        <p:nvSpPr>
          <p:cNvPr id="439" name="Google Shape;439;p47"/>
          <p:cNvSpPr txBox="1"/>
          <p:nvPr/>
        </p:nvSpPr>
        <p:spPr>
          <a:xfrm>
            <a:off x="480073" y="202311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Watch for a download bar, then training epochs, then evaluation metrics.</a:t>
            </a:r>
            <a:endParaRPr sz="1100"/>
          </a:p>
        </p:txBody>
      </p:sp>
      <p:sp>
        <p:nvSpPr>
          <p:cNvPr id="440" name="Google Shape;440;p47"/>
          <p:cNvSpPr txBox="1"/>
          <p:nvPr/>
        </p:nvSpPr>
        <p:spPr>
          <a:xfrm>
            <a:off x="480073" y="231114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dataset is small, usually well under a minute on CPU, seconds per stage.</a:t>
            </a:r>
            <a:endParaRPr sz="1100"/>
          </a:p>
        </p:txBody>
      </p:sp>
      <p:sp>
        <p:nvSpPr>
          <p:cNvPr id="441" name="Google Shape;441;p47"/>
          <p:cNvSpPr txBox="1"/>
          <p:nvPr/>
        </p:nvSpPr>
        <p:spPr>
          <a:xfrm>
            <a:off x="480073" y="259918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Checkpoint: finishes with no Python error, and models/output/ has a new run.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8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8 of 10</a:t>
            </a:r>
            <a:endParaRPr sz="1100"/>
          </a:p>
        </p:txBody>
      </p:sp>
      <p:sp>
        <p:nvSpPr>
          <p:cNvPr id="448" name="Google Shape;448;p48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Serve the model and get a prediction</a:t>
            </a:r>
            <a:endParaRPr sz="1100"/>
          </a:p>
        </p:txBody>
      </p:sp>
      <p:sp>
        <p:nvSpPr>
          <p:cNvPr id="449" name="Google Shape;449;p48"/>
          <p:cNvSpPr txBox="1"/>
          <p:nvPr/>
        </p:nvSpPr>
        <p:spPr>
          <a:xfrm>
            <a:off x="480073" y="109728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Needs two terminals, both with the virtual environment active.</a:t>
            </a:r>
            <a:endParaRPr sz="1100"/>
          </a:p>
        </p:txBody>
      </p:sp>
      <p:sp>
        <p:nvSpPr>
          <p:cNvPr id="450" name="Google Shape;450;p48"/>
          <p:cNvSpPr txBox="1"/>
          <p:nvPr/>
        </p:nvSpPr>
        <p:spPr>
          <a:xfrm>
            <a:off x="480073" y="1419606"/>
            <a:ext cx="4114910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terminal a, leave running</a:t>
            </a:r>
            <a:endParaRPr sz="1100"/>
          </a:p>
        </p:txBody>
      </p:sp>
      <p:sp>
        <p:nvSpPr>
          <p:cNvPr id="451" name="Google Shape;451;p48"/>
          <p:cNvSpPr txBox="1"/>
          <p:nvPr/>
        </p:nvSpPr>
        <p:spPr>
          <a:xfrm>
            <a:off x="603520" y="1611630"/>
            <a:ext cx="3991462" cy="253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-m src.serving.serve</a:t>
            </a:r>
            <a:endParaRPr sz="1100"/>
          </a:p>
        </p:txBody>
      </p:sp>
      <p:sp>
        <p:nvSpPr>
          <p:cNvPr id="452" name="Google Shape;452;p48"/>
          <p:cNvSpPr txBox="1"/>
          <p:nvPr/>
        </p:nvSpPr>
        <p:spPr>
          <a:xfrm>
            <a:off x="480073" y="2077974"/>
            <a:ext cx="8183869" cy="1783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terminal b, new window</a:t>
            </a:r>
            <a:endParaRPr sz="1100"/>
          </a:p>
        </p:txBody>
      </p:sp>
      <p:sp>
        <p:nvSpPr>
          <p:cNvPr id="453" name="Google Shape;453;p48"/>
          <p:cNvSpPr txBox="1"/>
          <p:nvPr/>
        </p:nvSpPr>
        <p:spPr>
          <a:xfrm>
            <a:off x="603520" y="2269998"/>
            <a:ext cx="806042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python -m src.inference.predict --features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'[63,1,3,145,233,1,0,150,0,2.3,0,0,1,9.135,3.698,2.381,0,1,0]'</a:t>
            </a:r>
            <a:endParaRPr sz="1100"/>
          </a:p>
        </p:txBody>
      </p:sp>
      <p:sp>
        <p:nvSpPr>
          <p:cNvPr id="454" name="Google Shape;454;p48"/>
          <p:cNvSpPr txBox="1"/>
          <p:nvPr/>
        </p:nvSpPr>
        <p:spPr>
          <a:xfrm>
            <a:off x="480073" y="2921508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Checkpoint: terminal B prints a prediction. http://localhost:8080/health also works in a browser.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9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9 of 10</a:t>
            </a:r>
            <a:endParaRPr sz="1100"/>
          </a:p>
        </p:txBody>
      </p:sp>
      <p:sp>
        <p:nvSpPr>
          <p:cNvPr id="461" name="Google Shape;461;p49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Run the automated tests, optional</a:t>
            </a:r>
            <a:endParaRPr sz="1100"/>
          </a:p>
        </p:txBody>
      </p:sp>
      <p:sp>
        <p:nvSpPr>
          <p:cNvPr id="462" name="Google Shape;462;p49"/>
          <p:cNvSpPr txBox="1"/>
          <p:nvPr/>
        </p:nvSpPr>
        <p:spPr>
          <a:xfrm>
            <a:off x="480073" y="116586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Confirms your setup is healthy. No trained model or internet needed.</a:t>
            </a:r>
            <a:endParaRPr sz="1100"/>
          </a:p>
        </p:txBody>
      </p:sp>
      <p:sp>
        <p:nvSpPr>
          <p:cNvPr id="463" name="Google Shape;463;p49"/>
          <p:cNvSpPr txBox="1"/>
          <p:nvPr/>
        </p:nvSpPr>
        <p:spPr>
          <a:xfrm>
            <a:off x="603520" y="1522476"/>
            <a:ext cx="4334372" cy="624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pip install -r requirements-dev.txt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pytest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ruff check .</a:t>
            </a:r>
            <a:endParaRPr sz="1100"/>
          </a:p>
        </p:txBody>
      </p:sp>
      <p:sp>
        <p:nvSpPr>
          <p:cNvPr id="464" name="Google Shape;464;p49"/>
          <p:cNvSpPr txBox="1"/>
          <p:nvPr/>
        </p:nvSpPr>
        <p:spPr>
          <a:xfrm>
            <a:off x="480073" y="235915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Checkpoint: pytest passes in under a second, ruff reports no errors.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50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Step 10 of 10</a:t>
            </a:r>
            <a:endParaRPr sz="1100"/>
          </a:p>
        </p:txBody>
      </p:sp>
      <p:sp>
        <p:nvSpPr>
          <p:cNvPr id="471" name="Google Shape;471;p50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Try the web interface, bonus</a:t>
            </a:r>
            <a:endParaRPr sz="1100"/>
          </a:p>
        </p:txBody>
      </p:sp>
      <p:sp>
        <p:nvSpPr>
          <p:cNvPr id="472" name="Google Shape;472;p50"/>
          <p:cNvSpPr txBox="1"/>
          <p:nvPr/>
        </p:nvSpPr>
        <p:spPr>
          <a:xfrm>
            <a:off x="480073" y="109728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frontend-app/ adds a form UI and a CSV batch upload page.</a:t>
            </a:r>
            <a:endParaRPr sz="1100"/>
          </a:p>
        </p:txBody>
      </p:sp>
      <p:sp>
        <p:nvSpPr>
          <p:cNvPr id="473" name="Google Shape;473;p50"/>
          <p:cNvSpPr txBox="1"/>
          <p:nvPr/>
        </p:nvSpPr>
        <p:spPr>
          <a:xfrm>
            <a:off x="480073" y="1385316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Needs Docker Desktop, and a deployed model already in models/registry/latest, from step 7.</a:t>
            </a:r>
            <a:endParaRPr sz="1100"/>
          </a:p>
        </p:txBody>
      </p:sp>
      <p:sp>
        <p:nvSpPr>
          <p:cNvPr id="474" name="Google Shape;474;p50"/>
          <p:cNvSpPr txBox="1"/>
          <p:nvPr/>
        </p:nvSpPr>
        <p:spPr>
          <a:xfrm>
            <a:off x="480073" y="1858518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Stop the step 8 server first. Compose builds and runs its own model server on the same port 8080.</a:t>
            </a:r>
            <a:endParaRPr sz="1100"/>
          </a:p>
        </p:txBody>
      </p:sp>
      <p:sp>
        <p:nvSpPr>
          <p:cNvPr id="475" name="Google Shape;475;p50"/>
          <p:cNvSpPr txBox="1"/>
          <p:nvPr/>
        </p:nvSpPr>
        <p:spPr>
          <a:xfrm>
            <a:off x="603520" y="2400300"/>
            <a:ext cx="3648553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cd frontend-app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docker-compose up -d</a:t>
            </a:r>
            <a:endParaRPr sz="1100"/>
          </a:p>
        </p:txBody>
      </p:sp>
      <p:sp>
        <p:nvSpPr>
          <p:cNvPr id="476" name="Google Shape;476;p50"/>
          <p:cNvSpPr txBox="1"/>
          <p:nvPr/>
        </p:nvSpPr>
        <p:spPr>
          <a:xfrm>
            <a:off x="480073" y="305181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localhost:5000 for the UI, or localhost:8000/docs for the API docs.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1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51"/>
          <p:cNvSpPr txBox="1"/>
          <p:nvPr/>
        </p:nvSpPr>
        <p:spPr>
          <a:xfrm>
            <a:off x="480073" y="3429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Reference</a:t>
            </a:r>
            <a:endParaRPr sz="1100"/>
          </a:p>
        </p:txBody>
      </p:sp>
      <p:sp>
        <p:nvSpPr>
          <p:cNvPr id="483" name="Google Shape;483;p51"/>
          <p:cNvSpPr txBox="1"/>
          <p:nvPr/>
        </p:nvSpPr>
        <p:spPr>
          <a:xfrm>
            <a:off x="480073" y="603504"/>
            <a:ext cx="8183869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Troubleshooting</a:t>
            </a:r>
            <a:endParaRPr sz="1100"/>
          </a:p>
        </p:txBody>
      </p:sp>
      <p:sp>
        <p:nvSpPr>
          <p:cNvPr id="484" name="Google Shape;484;p51"/>
          <p:cNvSpPr txBox="1"/>
          <p:nvPr/>
        </p:nvSpPr>
        <p:spPr>
          <a:xfrm>
            <a:off x="480073" y="1062990"/>
            <a:ext cx="8183869" cy="404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Command not found: your virtual environment is not active, look for (venv) and re-run step 5.</a:t>
            </a:r>
            <a:endParaRPr sz="1100"/>
          </a:p>
        </p:txBody>
      </p:sp>
      <p:sp>
        <p:nvSpPr>
          <p:cNvPr id="485" name="Google Shape;485;p51"/>
          <p:cNvSpPr txBox="1"/>
          <p:nvPr/>
        </p:nvSpPr>
        <p:spPr>
          <a:xfrm>
            <a:off x="480073" y="153619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Ubuntu ensurepip error: install the matching venv package for your Python version.</a:t>
            </a:r>
            <a:endParaRPr sz="1100"/>
          </a:p>
        </p:txBody>
      </p:sp>
      <p:sp>
        <p:nvSpPr>
          <p:cNvPr id="486" name="Google Shape;486;p51"/>
          <p:cNvSpPr txBox="1"/>
          <p:nvPr/>
        </p:nvSpPr>
        <p:spPr>
          <a:xfrm>
            <a:off x="480073" y="182422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PowerShell scripts disabled: run the Set-ExecutionPolicy command from step 5.</a:t>
            </a:r>
            <a:endParaRPr sz="1100"/>
          </a:p>
        </p:txBody>
      </p:sp>
      <p:sp>
        <p:nvSpPr>
          <p:cNvPr id="487" name="Google Shape;487;p51"/>
          <p:cNvSpPr txBox="1"/>
          <p:nvPr/>
        </p:nvSpPr>
        <p:spPr>
          <a:xfrm>
            <a:off x="480073" y="2112264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 hangs or fails: needs live internet, check Wi-Fi or VPN.</a:t>
            </a:r>
            <a:endParaRPr sz="1100"/>
          </a:p>
        </p:txBody>
      </p:sp>
      <p:sp>
        <p:nvSpPr>
          <p:cNvPr id="488" name="Google Shape;488;p51"/>
          <p:cNvSpPr txBox="1"/>
          <p:nvPr/>
        </p:nvSpPr>
        <p:spPr>
          <a:xfrm>
            <a:off x="480073" y="240030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 address already in use: an earlier server is still running, stop it first.</a:t>
            </a:r>
            <a:endParaRPr sz="1100"/>
          </a:p>
        </p:txBody>
      </p:sp>
      <p:sp>
        <p:nvSpPr>
          <p:cNvPr id="489" name="Google Shape;489;p51"/>
          <p:cNvSpPr txBox="1"/>
          <p:nvPr/>
        </p:nvSpPr>
        <p:spPr>
          <a:xfrm>
            <a:off x="480073" y="268833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make on Windows: expected, this lab uses python -m src commands instead.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2"/>
          <p:cNvSpPr/>
          <p:nvPr/>
        </p:nvSpPr>
        <p:spPr>
          <a:xfrm>
            <a:off x="0" y="0"/>
            <a:ext cx="914401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2"/>
          <p:cNvSpPr txBox="1"/>
          <p:nvPr/>
        </p:nvSpPr>
        <p:spPr>
          <a:xfrm>
            <a:off x="480073" y="1714500"/>
            <a:ext cx="818386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222A27"/>
                </a:solidFill>
                <a:latin typeface="Georgia"/>
                <a:ea typeface="Georgia"/>
                <a:cs typeface="Georgia"/>
                <a:sym typeface="Georgia"/>
              </a:rPr>
              <a:t>You just ran a complete machine learning pipeline</a:t>
            </a:r>
            <a:endParaRPr sz="1100"/>
          </a:p>
        </p:txBody>
      </p:sp>
      <p:sp>
        <p:nvSpPr>
          <p:cNvPr id="496" name="Google Shape;496;p52"/>
          <p:cNvSpPr txBox="1"/>
          <p:nvPr/>
        </p:nvSpPr>
        <p:spPr>
          <a:xfrm>
            <a:off x="480073" y="2503170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Downloaded and cleaned real clinical data</a:t>
            </a:r>
            <a:endParaRPr sz="1100"/>
          </a:p>
        </p:txBody>
      </p:sp>
      <p:sp>
        <p:nvSpPr>
          <p:cNvPr id="497" name="Google Shape;497;p52"/>
          <p:cNvSpPr txBox="1"/>
          <p:nvPr/>
        </p:nvSpPr>
        <p:spPr>
          <a:xfrm>
            <a:off x="480073" y="2791206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Engineered features, trained, and evaluated a neural network</a:t>
            </a:r>
            <a:endParaRPr sz="1100"/>
          </a:p>
        </p:txBody>
      </p:sp>
      <p:sp>
        <p:nvSpPr>
          <p:cNvPr id="498" name="Google Shape;498;p52"/>
          <p:cNvSpPr txBox="1"/>
          <p:nvPr/>
        </p:nvSpPr>
        <p:spPr>
          <a:xfrm>
            <a:off x="480073" y="3079242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Deployed it and served a live prediction, all on your own laptop</a:t>
            </a:r>
            <a:endParaRPr sz="1100"/>
          </a:p>
        </p:txBody>
      </p:sp>
      <p:sp>
        <p:nvSpPr>
          <p:cNvPr id="499" name="Google Shape;499;p52"/>
          <p:cNvSpPr txBox="1"/>
          <p:nvPr/>
        </p:nvSpPr>
        <p:spPr>
          <a:xfrm>
            <a:off x="480073" y="3367278"/>
            <a:ext cx="8183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›  </a:t>
            </a: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 -m src.pipeline --help lists more options to try</a:t>
            </a:r>
            <a:endParaRPr sz="1100"/>
          </a:p>
        </p:txBody>
      </p:sp>
      <p:sp>
        <p:nvSpPr>
          <p:cNvPr id="500" name="Google Shape;500;p52"/>
          <p:cNvSpPr txBox="1"/>
          <p:nvPr/>
        </p:nvSpPr>
        <p:spPr>
          <a:xfrm>
            <a:off x="480073" y="4800600"/>
            <a:ext cx="818386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Pulse Pipeline, a heart disease machine learning pipeline lab.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